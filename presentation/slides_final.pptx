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9144000"/>
  <p:embeddedFontLst>
    <p:embeddedFont>
      <p:font typeface="Calibri" panose="020F0502020204030204"/>
      <p:regular r:id="rId18"/>
      <p:bold r:id="rId19"/>
      <p:italic r:id="rId20"/>
      <p:boldItalic r:id="rId21"/>
    </p:embeddedFont>
    <p:embeddedFont>
      <p:font typeface="Inter SemiBold" panose="02000503000000020004"/>
      <p:regular r:id="rId22"/>
      <p:bold r:id="rId23"/>
      <p:italic r:id="rId24"/>
      <p:boldItalic r:id="rId25"/>
    </p:embeddedFont>
    <p:embeddedFont>
      <p:font typeface="Inter" panose="02000503000000020004"/>
      <p:regular r:id="rId26"/>
      <p:bold r:id="rId27"/>
      <p:italic r:id="rId28"/>
      <p:boldItalic r:id="rId29"/>
    </p:embeddedFont>
    <p:embeddedFont>
      <p:font typeface="Poppins" panose="00000500000000000000"/>
      <p:regular r:id="rId30"/>
      <p:bold r:id="rId31"/>
      <p:italic r:id="rId32"/>
    </p:embeddedFont>
    <p:embeddedFont>
      <p:font typeface="Poppins SemiBold" panose="00000500000000000000"/>
      <p:regular r:id="rId33"/>
      <p:bold r:id="rId34"/>
      <p:italic r:id="rId35"/>
    </p:embeddedFont>
    <p:embeddedFont>
      <p:font typeface="Inter Black" panose="02000503000000020004"/>
      <p:bold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2880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FFEC115-4D38-4CCD-8892-BDB064028CA5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font" Target="fonts/font20.fntdata"/><Relationship Id="rId36" Type="http://schemas.openxmlformats.org/officeDocument/2006/relationships/font" Target="fonts/font19.fntdata"/><Relationship Id="rId35" Type="http://schemas.openxmlformats.org/officeDocument/2006/relationships/font" Target="fonts/font18.fntdata"/><Relationship Id="rId34" Type="http://schemas.openxmlformats.org/officeDocument/2006/relationships/font" Target="fonts/font17.fntdata"/><Relationship Id="rId33" Type="http://schemas.openxmlformats.org/officeDocument/2006/relationships/font" Target="fonts/font16.fntdata"/><Relationship Id="rId32" Type="http://schemas.openxmlformats.org/officeDocument/2006/relationships/font" Target="fonts/font15.fntdata"/><Relationship Id="rId31" Type="http://schemas.openxmlformats.org/officeDocument/2006/relationships/font" Target="fonts/font14.fntdata"/><Relationship Id="rId30" Type="http://schemas.openxmlformats.org/officeDocument/2006/relationships/font" Target="fonts/font13.fntdata"/><Relationship Id="rId3" Type="http://schemas.openxmlformats.org/officeDocument/2006/relationships/slide" Target="slides/slide1.xml"/><Relationship Id="rId29" Type="http://schemas.openxmlformats.org/officeDocument/2006/relationships/font" Target="fonts/font12.fntdata"/><Relationship Id="rId28" Type="http://schemas.openxmlformats.org/officeDocument/2006/relationships/font" Target="fonts/font11.fntdata"/><Relationship Id="rId27" Type="http://schemas.openxmlformats.org/officeDocument/2006/relationships/font" Target="fonts/font10.fntdata"/><Relationship Id="rId26" Type="http://schemas.openxmlformats.org/officeDocument/2006/relationships/font" Target="fonts/font9.fntdata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2" name="Google Shape;82;p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92" name="Google Shape;92;p2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12" name="Google Shape;112;p3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1" name="Google Shape;141;p4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64" name="Google Shape;164;p5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3" name="Google Shape;183;p6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12" name="Google Shape;212;p7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32" name="Google Shape;232;p8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49" name="Google Shape;249;p10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62" name="Google Shape;262;p9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286" name="Google Shape;286;p11:notes"/>
          <p:cNvSpPr/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Title and Content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3" name="Google Shape;43;p7"/>
          <p:cNvSpPr txBox="1"/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45" name="Google Shape;45;p7"/>
          <p:cNvSpPr txBox="1"/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5.xml"/><Relationship Id="rId8" Type="http://schemas.openxmlformats.org/officeDocument/2006/relationships/slideLayout" Target="../slideLayouts/slideLayout1.xml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26225" y="-140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067300" y="1385887"/>
            <a:ext cx="20574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3443287" y="3976687"/>
            <a:ext cx="53054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3415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Research Proposal | Group 4</a:t>
            </a:r>
            <a:endParaRPr lang="en-US" sz="1800" b="0" i="0" u="none" strike="noStrike" cap="none">
              <a:solidFill>
                <a:srgbClr val="334155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3443275" y="4548142"/>
            <a:ext cx="54090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Lê Trần Gia Huy | Lê Chí Tâm | Nguyễn Tiến Phú | Trương Văn An</a:t>
            </a:r>
            <a:endParaRPr lang="en-US" sz="135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3443287" y="5091112"/>
            <a:ext cx="53055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June 20, 2026 </a:t>
            </a:r>
            <a:endParaRPr lang="en-US" sz="120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765458" y="1804987"/>
            <a:ext cx="866108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Proactive Bug Discovery via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45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 Agentic Exploration</a:t>
            </a:r>
            <a:endParaRPr lang="en-US" sz="45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6451600" y="1809750"/>
            <a:ext cx="5339080" cy="371665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677025" y="2346870"/>
            <a:ext cx="1228725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051595"/>
            <a:ext cx="5500687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Context</a:t>
            </a:r>
            <a:endParaRPr lang="en-US" sz="2100" b="0" i="0" u="none" strike="noStrike" cap="none">
              <a:solidFill>
                <a:srgbClr val="0EA5E9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6677025" y="2956470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0F172A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Shared Limitation (GAP-S)</a:t>
            </a:r>
            <a:endParaRPr lang="en-US" sz="1500" b="0" i="0" u="none" strike="noStrike" cap="none">
              <a:solidFill>
                <a:srgbClr val="0F172A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6677025" y="3432720"/>
            <a:ext cx="46482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State-of-the-art LLMs (Claude-Sonnet-4.5) only achieve a </a:t>
            </a: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16.06%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Fail-to-Pass rate in proactive scenarios.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677025" y="4623345"/>
            <a:ext cx="46482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Conclusion: Missing an autonomous agent architecture with real-time terminal interaction.</a:t>
            </a:r>
            <a:endParaRPr lang="en-US" sz="1500" b="0" i="1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6677025" y="4480470"/>
            <a:ext cx="4648200" cy="9525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857250" y="2523976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Repository-level testing requires understanding entire codebases and documentation.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3238351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"Proactive discovery" means finding bugs without existing human reports.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3952726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Current LLMs (GPT-5, Claude) show severe limitations in this specific task.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571500" y="2523976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571500" y="3238351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571500" y="3952726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Problem &amp; GAP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09" name="Google Shape;109;p14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" name="Google Shape;115;p15"/>
          <p:cNvGraphicFramePr/>
          <p:nvPr/>
        </p:nvGraphicFramePr>
        <p:xfrm>
          <a:off x="571500" y="2013495"/>
          <a:ext cx="11049000" cy="3190875"/>
        </p:xfrm>
        <a:graphic>
          <a:graphicData uri="http://schemas.openxmlformats.org/drawingml/2006/table">
            <a:tbl>
              <a:tblPr firstRow="1" bandRow="1">
                <a:noFill/>
                <a:tableStyleId>{7FFEC115-4D38-4CCD-8892-BDB064028CA5}</a:tableStyleId>
              </a:tblPr>
              <a:tblGrid>
                <a:gridCol w="2962725"/>
                <a:gridCol w="2110975"/>
                <a:gridCol w="2752875"/>
                <a:gridCol w="3222425"/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Paper / Tool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Dataset (N)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Primary Metric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Best Result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TestExplora (2026)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2,389 tasks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F2P Rate (%)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16.06%</a:t>
                      </a: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 (Baseline)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SWT-Bench (2025)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GitHub Issues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Reproduction Rate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27.3% (Reactive)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MASTEST (2025)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REST APIs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Bug Detection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78.0% (Human-in-loop)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TESTWEAVER (2026)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10 Services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Line Coverage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+16.4% improvement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6" name="Google Shape;116;p15"/>
          <p:cNvSpPr txBox="1"/>
          <p:nvPr/>
        </p:nvSpPr>
        <p:spPr>
          <a:xfrm>
            <a:off x="571500" y="5442495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*Evidence selected from 37 analyzed publications confirming the critical performance gap.</a:t>
            </a:r>
            <a:endParaRPr lang="en-US" sz="12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2637383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3534221" y="2637383"/>
            <a:ext cx="2110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19" name="Google Shape;119;p15"/>
          <p:cNvSpPr/>
          <p:nvPr/>
        </p:nvSpPr>
        <p:spPr>
          <a:xfrm>
            <a:off x="5645199" y="2637383"/>
            <a:ext cx="275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8398073" y="2637383"/>
            <a:ext cx="322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571500" y="3275558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3534221" y="3275558"/>
            <a:ext cx="2110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5645199" y="3275558"/>
            <a:ext cx="275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398073" y="3275558"/>
            <a:ext cx="322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5" name="Google Shape;125;p15"/>
          <p:cNvSpPr/>
          <p:nvPr/>
        </p:nvSpPr>
        <p:spPr>
          <a:xfrm>
            <a:off x="571500" y="3913733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3534221" y="3913733"/>
            <a:ext cx="2110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5645199" y="3913733"/>
            <a:ext cx="275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8" name="Google Shape;128;p15"/>
          <p:cNvSpPr/>
          <p:nvPr/>
        </p:nvSpPr>
        <p:spPr>
          <a:xfrm>
            <a:off x="8398073" y="3913733"/>
            <a:ext cx="322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571500" y="4551908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3534221" y="4551908"/>
            <a:ext cx="2110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5645199" y="4551908"/>
            <a:ext cx="275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8398073" y="4551908"/>
            <a:ext cx="322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571500" y="5190083"/>
            <a:ext cx="296272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3534221" y="5190083"/>
            <a:ext cx="21109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5645199" y="5190083"/>
            <a:ext cx="27528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8398073" y="5190083"/>
            <a:ext cx="32224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37" name="Google Shape;137;p15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Evidence Summary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38" name="Google Shape;138;p15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6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1016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6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084933"/>
            <a:ext cx="53816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16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238875" y="2084933"/>
            <a:ext cx="5381625" cy="35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828675" y="4713833"/>
            <a:ext cx="48672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6496050" y="4713833"/>
            <a:ext cx="4867275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6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828675" y="2532608"/>
            <a:ext cx="2733675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6"/>
          <p:cNvSpPr txBox="1"/>
          <p:nvPr/>
        </p:nvSpPr>
        <p:spPr>
          <a:xfrm>
            <a:off x="828675" y="3246983"/>
            <a:ext cx="486727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Does Agentic Exploration exceed the 16.06% threshold of static context?</a:t>
            </a:r>
            <a:endParaRPr lang="en-US" sz="1350" b="0" i="0" u="none" strike="noStrike" cap="none">
              <a:solidFill>
                <a:srgbClr val="334155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828675" y="3951833"/>
            <a:ext cx="4867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H0: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Performance ≤ 16.06%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828675" y="4332833"/>
            <a:ext cx="4867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 Black" panose="02000503000000020004"/>
                <a:ea typeface="Inter Black" panose="02000503000000020004"/>
                <a:cs typeface="Inter Black" panose="02000503000000020004"/>
                <a:sym typeface="Inter Black" panose="02000503000000020004"/>
              </a:rPr>
              <a:t>H1:</a:t>
            </a:r>
            <a:r>
              <a:rPr lang="en-US" sz="1200" b="0" i="0" u="none" strike="noStrike" cap="none">
                <a:solidFill>
                  <a:srgbClr val="0EA5E9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 Performance &gt; 16.06%</a:t>
            </a:r>
            <a:endParaRPr lang="en-US" sz="1200" b="0" i="0" u="none" strike="noStrike" cap="none">
              <a:solidFill>
                <a:srgbClr val="0EA5E9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pic>
        <p:nvPicPr>
          <p:cNvPr id="152" name="Google Shape;152;p16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6496050" y="2532608"/>
            <a:ext cx="2438400" cy="4000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16"/>
          <p:cNvSpPr txBox="1"/>
          <p:nvPr/>
        </p:nvSpPr>
        <p:spPr>
          <a:xfrm>
            <a:off x="6496050" y="3246983"/>
            <a:ext cx="4867275" cy="622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33415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Does increasing budget to k=</a:t>
            </a:r>
            <a:r>
              <a:rPr lang="vi-VN" altLang="en-US" sz="1350" b="0" i="0" u="none" strike="noStrike" cap="none">
                <a:solidFill>
                  <a:srgbClr val="33415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3</a:t>
            </a:r>
            <a:r>
              <a:rPr lang="en-US" sz="1350" b="0" i="0" u="none" strike="noStrike" cap="none">
                <a:solidFill>
                  <a:srgbClr val="334155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 push F2P towards the 29.7% ceiling?</a:t>
            </a:r>
            <a:endParaRPr lang="en-US" sz="1350" b="0" i="0" u="none" strike="noStrike" cap="none">
              <a:solidFill>
                <a:srgbClr val="334155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4" name="Google Shape;154;p16"/>
          <p:cNvSpPr txBox="1"/>
          <p:nvPr/>
        </p:nvSpPr>
        <p:spPr>
          <a:xfrm>
            <a:off x="6496050" y="3951833"/>
            <a:ext cx="4867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H0:</a:t>
            </a: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k=5 improvement ≤ Static floor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5" name="Google Shape;155;p16"/>
          <p:cNvSpPr txBox="1"/>
          <p:nvPr/>
        </p:nvSpPr>
        <p:spPr>
          <a:xfrm>
            <a:off x="6496050" y="4332833"/>
            <a:ext cx="48672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0EA5E9"/>
                </a:solidFill>
                <a:latin typeface="Inter Black" panose="02000503000000020004"/>
                <a:ea typeface="Inter Black" panose="02000503000000020004"/>
                <a:cs typeface="Inter Black" panose="02000503000000020004"/>
                <a:sym typeface="Inter Black" panose="02000503000000020004"/>
              </a:rPr>
              <a:t>H1:</a:t>
            </a:r>
            <a:r>
              <a:rPr lang="en-US" sz="1200" b="0" i="0" u="none" strike="noStrike" cap="none">
                <a:solidFill>
                  <a:srgbClr val="0EA5E9"/>
                </a:solidFill>
                <a:latin typeface="Inter SemiBold" panose="02000503000000020004"/>
                <a:ea typeface="Inter SemiBold" panose="02000503000000020004"/>
                <a:cs typeface="Inter SemiBold" panose="02000503000000020004"/>
                <a:sym typeface="Inter SemiBold" panose="02000503000000020004"/>
              </a:rPr>
              <a:t> k=5 approaches 29.7%</a:t>
            </a:r>
            <a:endParaRPr lang="en-US" sz="1200" b="0" i="0" u="none" strike="noStrike" cap="none">
              <a:solidFill>
                <a:srgbClr val="0EA5E9"/>
              </a:solidFill>
              <a:latin typeface="Inter SemiBold" panose="02000503000000020004"/>
              <a:ea typeface="Inter SemiBold" panose="02000503000000020004"/>
              <a:cs typeface="Inter SemiBold" panose="02000503000000020004"/>
              <a:sym typeface="Inter SemiBold" panose="02000503000000020004"/>
            </a:endParaRPr>
          </a:p>
        </p:txBody>
      </p:sp>
      <p:sp>
        <p:nvSpPr>
          <p:cNvPr id="156" name="Google Shape;156;p16"/>
          <p:cNvSpPr txBox="1"/>
          <p:nvPr/>
        </p:nvSpPr>
        <p:spPr>
          <a:xfrm>
            <a:off x="971550" y="4856708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Threshold: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16.06% (TestExplora, 2026)</a:t>
            </a:r>
            <a:endParaRPr lang="en-US" sz="10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7" name="Google Shape;157;p16"/>
          <p:cNvSpPr txBox="1"/>
          <p:nvPr/>
        </p:nvSpPr>
        <p:spPr>
          <a:xfrm>
            <a:off x="971550" y="5056733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Test: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Wilcoxon (α=0.05)</a:t>
            </a:r>
            <a:endParaRPr lang="en-US" sz="10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8" name="Google Shape;158;p16"/>
          <p:cNvSpPr txBox="1"/>
          <p:nvPr/>
        </p:nvSpPr>
        <p:spPr>
          <a:xfrm>
            <a:off x="6638925" y="4856708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Threshold: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29.7% (SWEAgent + GPT-5-mini)</a:t>
            </a:r>
            <a:endParaRPr lang="en-US" sz="10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59" name="Google Shape;159;p16"/>
          <p:cNvSpPr txBox="1"/>
          <p:nvPr/>
        </p:nvSpPr>
        <p:spPr>
          <a:xfrm>
            <a:off x="6638925" y="5056733"/>
            <a:ext cx="458152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Test:</a:t>
            </a:r>
            <a:r>
              <a:rPr lang="en-US" sz="105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Wilcoxon (α=0.05)</a:t>
            </a:r>
            <a:endParaRPr lang="en-US" sz="105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60" name="Google Shape;160;p16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Research Questions (RQ)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7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327820"/>
            <a:ext cx="1725662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440037" y="2327820"/>
            <a:ext cx="1725662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4308574" y="2327820"/>
            <a:ext cx="1706612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7" descr="image.png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6158061" y="2327820"/>
            <a:ext cx="1725662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7" descr="image.png"/>
          <p:cNvPicPr preferRelativeResize="0"/>
          <p:nvPr/>
        </p:nvPicPr>
        <p:blipFill rotWithShape="1">
          <a:blip r:embed="rId6"/>
          <a:srcRect/>
          <a:stretch>
            <a:fillRect/>
          </a:stretch>
        </p:blipFill>
        <p:spPr>
          <a:xfrm>
            <a:off x="8026598" y="2327820"/>
            <a:ext cx="1725662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7" descr="image.png"/>
          <p:cNvPicPr preferRelativeResize="0"/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9895135" y="2327820"/>
            <a:ext cx="1725662" cy="116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7"/>
          <p:cNvSpPr txBox="1"/>
          <p:nvPr/>
        </p:nvSpPr>
        <p:spPr>
          <a:xfrm>
            <a:off x="857250" y="4118520"/>
            <a:ext cx="10763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Input: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Repository source code + Documentation (No issue reports).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4" name="Google Shape;174;p17"/>
          <p:cNvSpPr txBox="1"/>
          <p:nvPr/>
        </p:nvSpPr>
        <p:spPr>
          <a:xfrm>
            <a:off x="857250" y="4547145"/>
            <a:ext cx="10763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Feedback: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GPT-5-mini interacts with terminal, reads logs, and fixes suites.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5" name="Google Shape;175;p17"/>
          <p:cNvSpPr txBox="1"/>
          <p:nvPr/>
        </p:nvSpPr>
        <p:spPr>
          <a:xfrm>
            <a:off x="857250" y="4975770"/>
            <a:ext cx="107632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Constraints: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Maximum 80 turns per exploration loop.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6" name="Google Shape;176;p17"/>
          <p:cNvSpPr txBox="1"/>
          <p:nvPr/>
        </p:nvSpPr>
        <p:spPr>
          <a:xfrm>
            <a:off x="571500" y="411852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571500" y="454714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8" name="Google Shape;178;p17"/>
          <p:cNvSpPr txBox="1"/>
          <p:nvPr/>
        </p:nvSpPr>
        <p:spPr>
          <a:xfrm>
            <a:off x="571500" y="497577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79" name="Google Shape;179;p17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Experiment Pipeline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180" name="Google Shape;180;p17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8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10692"/>
            <a:ext cx="5238750" cy="332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8" descr="image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6381750" y="2210692"/>
            <a:ext cx="5238750" cy="3320355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8"/>
          <p:cNvSpPr txBox="1"/>
          <p:nvPr/>
        </p:nvSpPr>
        <p:spPr>
          <a:xfrm>
            <a:off x="866775" y="2505967"/>
            <a:ext cx="488061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Dataset: TestExplora-Lite</a:t>
            </a:r>
            <a:endParaRPr lang="en-US" sz="2100" b="0" i="0" u="none" strike="noStrike" cap="none">
              <a:solidFill>
                <a:srgbClr val="0EA5E9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866775" y="3016448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Microsoft Open Source (GitHub)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677025" y="2505967"/>
            <a:ext cx="488061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0EA5E9"/>
                </a:solidFill>
                <a:latin typeface="Poppins SemiBold" panose="00000500000000000000"/>
                <a:ea typeface="Poppins SemiBold" panose="00000500000000000000"/>
                <a:cs typeface="Poppins SemiBold" panose="00000500000000000000"/>
                <a:sym typeface="Poppins SemiBold" panose="00000500000000000000"/>
              </a:rPr>
              <a:t>Baseline: Plain Context</a:t>
            </a:r>
            <a:endParaRPr lang="en-US" sz="2100" b="0" i="0" u="none" strike="noStrike" cap="none">
              <a:solidFill>
                <a:srgbClr val="0EA5E9"/>
              </a:solidFill>
              <a:latin typeface="Poppins SemiBold" panose="00000500000000000000"/>
              <a:ea typeface="Poppins SemiBold" panose="00000500000000000000"/>
              <a:cs typeface="Poppins SemiBold" panose="00000500000000000000"/>
              <a:sym typeface="Poppins SemiBold" panose="00000500000000000000"/>
            </a:endParaRPr>
          </a:p>
        </p:txBody>
      </p:sp>
      <p:sp>
        <p:nvSpPr>
          <p:cNvPr id="191" name="Google Shape;191;p18"/>
          <p:cNvSpPr txBox="1"/>
          <p:nvPr/>
        </p:nvSpPr>
        <p:spPr>
          <a:xfrm>
            <a:off x="6677025" y="3016448"/>
            <a:ext cx="46482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Source: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TestExplora (2026, Microsoft)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1152525" y="3492698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517 samples from 482 repositories.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1152525" y="3921323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Domain: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Web, Data Science, Dev Tools.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1152525" y="4349948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Anti-Leakage: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Post-2023 stream data.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5" name="Google Shape;195;p18"/>
          <p:cNvSpPr txBox="1"/>
          <p:nvPr/>
        </p:nvSpPr>
        <p:spPr>
          <a:xfrm>
            <a:off x="1152525" y="4778573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Status: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Accessible (Dockerized).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6962775" y="3492698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Claude-Sonnet-4.5 static generation.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7" name="Google Shape;197;p18"/>
          <p:cNvSpPr txBox="1"/>
          <p:nvPr/>
        </p:nvSpPr>
        <p:spPr>
          <a:xfrm>
            <a:off x="6962775" y="3921323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Single-step prompt (No agent loop).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8" name="Google Shape;198;p18"/>
          <p:cNvSpPr txBox="1"/>
          <p:nvPr/>
        </p:nvSpPr>
        <p:spPr>
          <a:xfrm>
            <a:off x="6962775" y="4349948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No terminal interaction tools.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199" name="Google Shape;199;p18"/>
          <p:cNvSpPr txBox="1"/>
          <p:nvPr/>
        </p:nvSpPr>
        <p:spPr>
          <a:xfrm>
            <a:off x="6962775" y="4778573"/>
            <a:ext cx="43624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Direct comparison on the same dataset.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866775" y="349269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1" name="Google Shape;201;p18"/>
          <p:cNvSpPr txBox="1"/>
          <p:nvPr/>
        </p:nvSpPr>
        <p:spPr>
          <a:xfrm>
            <a:off x="866775" y="392132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2" name="Google Shape;202;p18"/>
          <p:cNvSpPr txBox="1"/>
          <p:nvPr/>
        </p:nvSpPr>
        <p:spPr>
          <a:xfrm>
            <a:off x="866775" y="434994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3" name="Google Shape;203;p18"/>
          <p:cNvSpPr txBox="1"/>
          <p:nvPr/>
        </p:nvSpPr>
        <p:spPr>
          <a:xfrm>
            <a:off x="866775" y="477857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6677025" y="349269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5" name="Google Shape;205;p18"/>
          <p:cNvSpPr txBox="1"/>
          <p:nvPr/>
        </p:nvSpPr>
        <p:spPr>
          <a:xfrm>
            <a:off x="6677025" y="392132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6" name="Google Shape;206;p18"/>
          <p:cNvSpPr txBox="1"/>
          <p:nvPr/>
        </p:nvSpPr>
        <p:spPr>
          <a:xfrm>
            <a:off x="6677025" y="434994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7" name="Google Shape;207;p18"/>
          <p:cNvSpPr txBox="1"/>
          <p:nvPr/>
        </p:nvSpPr>
        <p:spPr>
          <a:xfrm>
            <a:off x="6677025" y="477857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08" name="Google Shape;208;p18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Dataset &amp; Baseline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19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19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676400" y="1646783"/>
            <a:ext cx="8839200" cy="3876675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19"/>
          <p:cNvSpPr txBox="1"/>
          <p:nvPr/>
        </p:nvSpPr>
        <p:spPr>
          <a:xfrm>
            <a:off x="571500" y="5713958"/>
            <a:ext cx="1104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*Non-parametric tests chosen due to bounded [0-100%] and skewed distribution of F2P scores.</a:t>
            </a:r>
            <a:endParaRPr lang="en-US" sz="12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graphicFrame>
        <p:nvGraphicFramePr>
          <p:cNvPr id="217" name="Google Shape;217;p19"/>
          <p:cNvGraphicFramePr/>
          <p:nvPr/>
        </p:nvGraphicFramePr>
        <p:xfrm>
          <a:off x="1971675" y="2037308"/>
          <a:ext cx="8248650" cy="3190875"/>
        </p:xfrm>
        <a:graphic>
          <a:graphicData uri="http://schemas.openxmlformats.org/drawingml/2006/table">
            <a:tbl>
              <a:tblPr firstRow="1" bandRow="1">
                <a:noFill/>
                <a:tableStyleId>{7FFEC115-4D38-4CCD-8892-BDB064028CA5}</a:tableStyleId>
              </a:tblPr>
              <a:tblGrid>
                <a:gridCol w="2596150"/>
                <a:gridCol w="5652500"/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Primary Test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Wilcoxon signed-rank test (One-tailed)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Significance (α)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0.05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Effect Size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Cliff's delta (Non-parametric)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Repetitions (K)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K=3 independent runs per configuration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Power</a:t>
                      </a:r>
                      <a:endParaRPr lang="en-US" sz="1500" b="1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≥ 0.80 target (G*Power analysis)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18" name="Google Shape;218;p19"/>
          <p:cNvSpPr/>
          <p:nvPr/>
        </p:nvSpPr>
        <p:spPr>
          <a:xfrm>
            <a:off x="1971675" y="2661195"/>
            <a:ext cx="259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4567832" y="2661195"/>
            <a:ext cx="56524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1971675" y="3299370"/>
            <a:ext cx="259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4567832" y="3299370"/>
            <a:ext cx="56524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1971675" y="3937545"/>
            <a:ext cx="259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4567832" y="3937545"/>
            <a:ext cx="56524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1971675" y="4575720"/>
            <a:ext cx="259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4567832" y="4575720"/>
            <a:ext cx="56524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1971675" y="5213895"/>
            <a:ext cx="2596157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4567832" y="5213895"/>
            <a:ext cx="565249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28" name="Google Shape;228;p19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Statistical Plan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20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0"/>
          <p:cNvSpPr txBox="1"/>
          <p:nvPr/>
        </p:nvSpPr>
        <p:spPr>
          <a:xfrm>
            <a:off x="571500" y="2713583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Internal Validity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6" name="Google Shape;236;p20"/>
          <p:cNvSpPr txBox="1"/>
          <p:nvPr/>
        </p:nvSpPr>
        <p:spPr>
          <a:xfrm>
            <a:off x="6381750" y="2713583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External &amp; Construct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7" name="Google Shape;237;p20"/>
          <p:cNvSpPr txBox="1"/>
          <p:nvPr/>
        </p:nvSpPr>
        <p:spPr>
          <a:xfrm>
            <a:off x="857250" y="3189833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Model Drift: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Silent updates to cloud LLMs.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Mitigation: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Log model-version and system-fingerprints.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8" name="Google Shape;238;p20"/>
          <p:cNvSpPr txBox="1"/>
          <p:nvPr/>
        </p:nvSpPr>
        <p:spPr>
          <a:xfrm>
            <a:off x="857250" y="4189958"/>
            <a:ext cx="49530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Stochasticity: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Randomness in high temperature (0.8).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Mitigation: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Report Median and SD over K=3 runs.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39" name="Google Shape;239;p20"/>
          <p:cNvSpPr txBox="1"/>
          <p:nvPr/>
        </p:nvSpPr>
        <p:spPr>
          <a:xfrm>
            <a:off x="6667500" y="3189833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Generalizability: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Mostly Python-based samples.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Mitigation: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Explicitly state scope; propose Java extension later.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0" name="Google Shape;240;p20"/>
          <p:cNvSpPr txBox="1"/>
          <p:nvPr/>
        </p:nvSpPr>
        <p:spPr>
          <a:xfrm>
            <a:off x="6667500" y="4189958"/>
            <a:ext cx="4953000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Metric Depth: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F2P doesn't capture assertion depth.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br>
            <a:r>
              <a:rPr lang="en-US" sz="1500" b="0" i="1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Mitigation:</a:t>
            </a:r>
            <a:r>
              <a:rPr lang="en-US" sz="15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 Use HP and EC as cross-validation metrics.</a:t>
            </a:r>
            <a:endParaRPr lang="en-US" sz="15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1" name="Google Shape;241;p20"/>
          <p:cNvSpPr txBox="1"/>
          <p:nvPr/>
        </p:nvSpPr>
        <p:spPr>
          <a:xfrm>
            <a:off x="571500" y="318983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2" name="Google Shape;242;p20"/>
          <p:cNvSpPr txBox="1"/>
          <p:nvPr/>
        </p:nvSpPr>
        <p:spPr>
          <a:xfrm>
            <a:off x="571500" y="418995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3" name="Google Shape;243;p20"/>
          <p:cNvSpPr txBox="1"/>
          <p:nvPr/>
        </p:nvSpPr>
        <p:spPr>
          <a:xfrm>
            <a:off x="6381750" y="3189833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4" name="Google Shape;244;p20"/>
          <p:cNvSpPr txBox="1"/>
          <p:nvPr/>
        </p:nvSpPr>
        <p:spPr>
          <a:xfrm>
            <a:off x="6381750" y="4189958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—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45" name="Google Shape;245;p20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Threats to Validity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46" name="Google Shape;246;p20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" name="Google Shape;251;p21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21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71500" y="2270670"/>
            <a:ext cx="11049000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1"/>
          <p:cNvSpPr txBox="1"/>
          <p:nvPr/>
        </p:nvSpPr>
        <p:spPr>
          <a:xfrm>
            <a:off x="866775" y="2832645"/>
            <a:ext cx="1045845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0F172A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"Shifting from Reactive to Proactive Discovery"</a:t>
            </a:r>
            <a:endParaRPr lang="en-US" sz="2100" b="1" i="0" u="none" strike="noStrike" cap="none">
              <a:solidFill>
                <a:srgbClr val="0F172A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4" name="Google Shape;254;p21"/>
          <p:cNvSpPr txBox="1"/>
          <p:nvPr/>
        </p:nvSpPr>
        <p:spPr>
          <a:xfrm>
            <a:off x="1057275" y="3899445"/>
            <a:ext cx="47482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Framework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5" name="Google Shape;255;p21"/>
          <p:cNvSpPr txBox="1"/>
          <p:nvPr/>
        </p:nvSpPr>
        <p:spPr>
          <a:xfrm>
            <a:off x="1057275" y="4375695"/>
            <a:ext cx="4748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An autonomous agent architecture capable of real-time terminal exploration and execution feedback loops.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6" name="Google Shape;256;p21"/>
          <p:cNvSpPr txBox="1"/>
          <p:nvPr/>
        </p:nvSpPr>
        <p:spPr>
          <a:xfrm>
            <a:off x="6386512" y="3899445"/>
            <a:ext cx="4748212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EA5E9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Performance</a:t>
            </a:r>
            <a:endParaRPr lang="en-US" sz="1500" b="1" i="0" u="none" strike="noStrike" cap="none">
              <a:solidFill>
                <a:srgbClr val="0EA5E9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7" name="Google Shape;257;p21"/>
          <p:cNvSpPr txBox="1"/>
          <p:nvPr/>
        </p:nvSpPr>
        <p:spPr>
          <a:xfrm>
            <a:off x="6386512" y="4375695"/>
            <a:ext cx="474821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Breaking the 16.06% SOTA ceiling for proactive repository-level testing in black-box/white-box scenarios.</a:t>
            </a:r>
            <a:endParaRPr lang="en-US" sz="1200" b="0" i="0" u="none" strike="noStrike" cap="none">
              <a:solidFill>
                <a:srgbClr val="334155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58" name="Google Shape;258;p21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Expected Contribution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59" name="Google Shape;259;p21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22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65" name="Google Shape;265;p22"/>
          <p:cNvGraphicFramePr/>
          <p:nvPr/>
        </p:nvGraphicFramePr>
        <p:xfrm>
          <a:off x="571500" y="2061120"/>
          <a:ext cx="11048975" cy="3190875"/>
        </p:xfrm>
        <a:graphic>
          <a:graphicData uri="http://schemas.openxmlformats.org/drawingml/2006/table">
            <a:tbl>
              <a:tblPr firstRow="1" bandRow="1">
                <a:noFill/>
                <a:tableStyleId>{7FFEC115-4D38-4CCD-8892-BDB064028CA5}</a:tableStyleId>
              </a:tblPr>
              <a:tblGrid>
                <a:gridCol w="1363700"/>
                <a:gridCol w="6721225"/>
                <a:gridCol w="2964050"/>
              </a:tblGrid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Week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Activity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 SemiBold" panose="02000503000000020004"/>
                          <a:ea typeface="Inter SemiBold" panose="02000503000000020004"/>
                          <a:cs typeface="Inter SemiBold" panose="02000503000000020004"/>
                          <a:sym typeface="Inter SemiBold" panose="02000503000000020004"/>
                        </a:rPr>
                        <a:t>Responsibility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 SemiBold" panose="02000503000000020004"/>
                        <a:ea typeface="Inter SemiBold" panose="02000503000000020004"/>
                        <a:cs typeface="Inter SemiBold" panose="02000503000000020004"/>
                        <a:sym typeface="Inter SemiBold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5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Proposal Drafting + Docker Environment Setup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PL, DG, LR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6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Final Submission + Instructor Approval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PL, RW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7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Pilot Run (20% sample) + Distribution Check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LR, MS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8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Full Experiment Run + Statistical Testing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rgbClr val="334155"/>
                          </a:solidFill>
                          <a:latin typeface="Inter" panose="02000503000000020004"/>
                          <a:ea typeface="Inter" panose="02000503000000020004"/>
                          <a:cs typeface="Inter" panose="02000503000000020004"/>
                          <a:sym typeface="Inter" panose="02000503000000020004"/>
                        </a:rPr>
                        <a:t>LR, MS, RW</a:t>
                      </a:r>
                      <a:endParaRPr lang="en-US" sz="1500" b="0" i="0" u="none" strike="noStrike" cap="none">
                        <a:solidFill>
                          <a:srgbClr val="334155"/>
                        </a:solidFill>
                        <a:latin typeface="Inter" panose="02000503000000020004"/>
                        <a:ea typeface="Inter" panose="02000503000000020004"/>
                        <a:cs typeface="Inter" panose="02000503000000020004"/>
                        <a:sym typeface="Inter" panose="02000503000000020004"/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66" name="Google Shape;266;p22"/>
          <p:cNvSpPr txBox="1"/>
          <p:nvPr/>
        </p:nvSpPr>
        <p:spPr>
          <a:xfrm>
            <a:off x="571500" y="5442495"/>
            <a:ext cx="110490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Roles: PL (Lead), DG (Data), LR (LLM Runner), MS (Stats), RW (Writer)</a:t>
            </a:r>
            <a:endParaRPr lang="en-US" sz="10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67" name="Google Shape;267;p22"/>
          <p:cNvSpPr/>
          <p:nvPr/>
        </p:nvSpPr>
        <p:spPr>
          <a:xfrm>
            <a:off x="571500" y="2685008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1935212" y="2685008"/>
            <a:ext cx="6721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69" name="Google Shape;269;p22"/>
          <p:cNvSpPr/>
          <p:nvPr/>
        </p:nvSpPr>
        <p:spPr>
          <a:xfrm>
            <a:off x="8656439" y="2685008"/>
            <a:ext cx="2964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0" name="Google Shape;270;p22"/>
          <p:cNvSpPr/>
          <p:nvPr/>
        </p:nvSpPr>
        <p:spPr>
          <a:xfrm>
            <a:off x="571500" y="3323183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1" name="Google Shape;271;p22"/>
          <p:cNvSpPr/>
          <p:nvPr/>
        </p:nvSpPr>
        <p:spPr>
          <a:xfrm>
            <a:off x="1935212" y="3323183"/>
            <a:ext cx="6721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2" name="Google Shape;272;p22"/>
          <p:cNvSpPr/>
          <p:nvPr/>
        </p:nvSpPr>
        <p:spPr>
          <a:xfrm>
            <a:off x="8656439" y="3323183"/>
            <a:ext cx="2964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3" name="Google Shape;273;p22"/>
          <p:cNvSpPr/>
          <p:nvPr/>
        </p:nvSpPr>
        <p:spPr>
          <a:xfrm>
            <a:off x="571500" y="3961358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4" name="Google Shape;274;p22"/>
          <p:cNvSpPr/>
          <p:nvPr/>
        </p:nvSpPr>
        <p:spPr>
          <a:xfrm>
            <a:off x="1935212" y="3961358"/>
            <a:ext cx="6721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5" name="Google Shape;275;p22"/>
          <p:cNvSpPr/>
          <p:nvPr/>
        </p:nvSpPr>
        <p:spPr>
          <a:xfrm>
            <a:off x="8656439" y="3961358"/>
            <a:ext cx="2964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6" name="Google Shape;276;p22"/>
          <p:cNvSpPr/>
          <p:nvPr/>
        </p:nvSpPr>
        <p:spPr>
          <a:xfrm>
            <a:off x="571500" y="4599533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7" name="Google Shape;277;p22"/>
          <p:cNvSpPr/>
          <p:nvPr/>
        </p:nvSpPr>
        <p:spPr>
          <a:xfrm>
            <a:off x="1935212" y="4599533"/>
            <a:ext cx="6721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8" name="Google Shape;278;p22"/>
          <p:cNvSpPr/>
          <p:nvPr/>
        </p:nvSpPr>
        <p:spPr>
          <a:xfrm>
            <a:off x="8656439" y="4599533"/>
            <a:ext cx="2964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79" name="Google Shape;279;p22"/>
          <p:cNvSpPr/>
          <p:nvPr/>
        </p:nvSpPr>
        <p:spPr>
          <a:xfrm>
            <a:off x="571500" y="5237708"/>
            <a:ext cx="13637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1935212" y="5237708"/>
            <a:ext cx="67212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1" name="Google Shape;281;p22"/>
          <p:cNvSpPr/>
          <p:nvPr/>
        </p:nvSpPr>
        <p:spPr>
          <a:xfrm>
            <a:off x="8656439" y="5237708"/>
            <a:ext cx="296406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282" name="Google Shape;282;p22"/>
          <p:cNvSpPr txBox="1"/>
          <p:nvPr/>
        </p:nvSpPr>
        <p:spPr>
          <a:xfrm>
            <a:off x="809625" y="571500"/>
            <a:ext cx="11351418" cy="5028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Timeline &amp; Roles</a:t>
            </a:r>
            <a:endParaRPr lang="en-US" sz="33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571500" y="571500"/>
            <a:ext cx="95250" cy="50289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Google Shape;288;p23" descr="image.png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3" descr="image.png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4191000" y="4119562"/>
            <a:ext cx="3810000" cy="105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3"/>
          <p:cNvSpPr txBox="1"/>
          <p:nvPr/>
        </p:nvSpPr>
        <p:spPr>
          <a:xfrm>
            <a:off x="4191000" y="4491037"/>
            <a:ext cx="3810000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Backup slides available for evidence details and prompt templates.</a:t>
            </a:r>
            <a:endParaRPr lang="en-US" sz="1350" b="0" i="0" u="none" strike="noStrike" cap="none">
              <a:solidFill>
                <a:srgbClr val="94A3B8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  <p:sp>
        <p:nvSpPr>
          <p:cNvPr id="291" name="Google Shape;291;p23"/>
          <p:cNvSpPr txBox="1"/>
          <p:nvPr/>
        </p:nvSpPr>
        <p:spPr>
          <a:xfrm>
            <a:off x="5160883" y="1681162"/>
            <a:ext cx="1870233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0F172A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rPr>
              <a:t>Q&amp;A</a:t>
            </a:r>
            <a:endParaRPr lang="en-US" sz="6000" b="1" i="0" u="none" strike="noStrike" cap="none">
              <a:solidFill>
                <a:srgbClr val="0F172A"/>
              </a:solidFill>
              <a:latin typeface="Poppins" panose="00000500000000000000"/>
              <a:ea typeface="Poppins" panose="00000500000000000000"/>
              <a:cs typeface="Poppins" panose="00000500000000000000"/>
              <a:sym typeface="Poppins" panose="00000500000000000000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4576762" y="2976562"/>
            <a:ext cx="30384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64748B"/>
                </a:solidFill>
                <a:latin typeface="Inter" panose="02000503000000020004"/>
                <a:ea typeface="Inter" panose="02000503000000020004"/>
                <a:cs typeface="Inter" panose="02000503000000020004"/>
                <a:sym typeface="Inter" panose="02000503000000020004"/>
              </a:rPr>
              <a:t>Thank you for your attention</a:t>
            </a:r>
            <a:endParaRPr lang="en-US" sz="1800" b="0" i="0" u="none" strike="noStrike" cap="none">
              <a:solidFill>
                <a:srgbClr val="64748B"/>
              </a:solidFill>
              <a:latin typeface="Inter" panose="02000503000000020004"/>
              <a:ea typeface="Inter" panose="02000503000000020004"/>
              <a:cs typeface="Inter" panose="02000503000000020004"/>
              <a:sym typeface="Inter" panose="020005030000000200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3536</Words>
  <Application>WPS Presentation</Application>
  <PresentationFormat/>
  <Paragraphs>250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Arial</vt:lpstr>
      <vt:lpstr>SimSun</vt:lpstr>
      <vt:lpstr>Wingdings</vt:lpstr>
      <vt:lpstr>Arial</vt:lpstr>
      <vt:lpstr>Calibri</vt:lpstr>
      <vt:lpstr>Inter SemiBold</vt:lpstr>
      <vt:lpstr>Inter</vt:lpstr>
      <vt:lpstr>Poppins</vt:lpstr>
      <vt:lpstr>Poppins SemiBold</vt:lpstr>
      <vt:lpstr>Inter Black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Chi Tam</cp:lastModifiedBy>
  <cp:revision>2</cp:revision>
  <dcterms:created xsi:type="dcterms:W3CDTF">2026-06-23T10:26:00Z</dcterms:created>
  <dcterms:modified xsi:type="dcterms:W3CDTF">2026-07-21T16:19:42Z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C7B8606DDDC44003A72D7350C496DDB8_12</vt:lpwstr>
  </property>
  <property fmtid="{D5CDD505-2E9C-101B-9397-08002B2CF9AE}" pid="3" name="KSOProductBuildVer">
    <vt:lpwstr>1033-12.1.0.27458</vt:lpwstr>
  </property>
</Properties>
</file>